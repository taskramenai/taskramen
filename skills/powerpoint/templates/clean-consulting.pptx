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B8A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  <c:pt idx="3">
                  <c:v>Category D</c:v>
                </c:pt>
                <c:pt idx="4">
                  <c:v>Category E</c:v>
                </c:pt>
                <c:pt idx="5">
                  <c:v>Category 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52</c:v>
                </c:pt>
                <c:pt idx="2">
                  <c:v>47</c:v>
                </c:pt>
                <c:pt idx="3">
                  <c:v>61</c:v>
                </c:pt>
                <c:pt idx="4">
                  <c:v>55</c:v>
                </c:pt>
                <c:pt idx="5">
                  <c:v>73</c:v>
                </c:pt>
              </c:numCache>
            </c:numRef>
          </c:val>
        </c:ser>
        <c:gapWidth val="8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2E2"/>
            </a:solidFill>
          </a:ln>
        </c:spPr>
        <c:txPr>
          <a:bodyPr/>
          <a:lstStyle/>
          <a:p>
            <a:pPr>
              <a:defRPr sz="900">
                <a:solidFill>
                  <a:srgbClr val="6B6B6B"/>
                </a:solidFill>
                <a:latin typeface="Raleway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2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B6B"/>
                </a:solidFill>
                <a:latin typeface="Raleway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900">
          <a:latin typeface="Ralew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1750">
              <a:solidFill>
                <a:srgbClr val="00B8A0"/>
              </a:solidFill>
            </a:ln>
          </c:spPr>
          <c:marker>
            <c:symbol val="circle"/>
            <c:size val="6"/>
            <c:spPr>
              <a:solidFill>
                <a:srgbClr val="00B8A0"/>
              </a:solidFill>
              <a:ln>
                <a:solidFill>
                  <a:srgbClr val="00B8A0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18</c:v>
                </c:pt>
                <c:pt idx="2">
                  <c:v>16</c:v>
                </c:pt>
                <c:pt idx="3">
                  <c:v>24</c:v>
                </c:pt>
                <c:pt idx="4">
                  <c:v>29</c:v>
                </c:pt>
                <c:pt idx="5">
                  <c:v>27</c:v>
                </c:pt>
                <c:pt idx="6">
                  <c:v>35</c:v>
                </c:pt>
                <c:pt idx="7">
                  <c:v>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ymbol val="circle"/>
            <c:size val="6"/>
            <c:spPr>
              <a:solidFill>
                <a:srgbClr val="1A73E8"/>
              </a:solidFill>
              <a:ln>
                <a:solidFill>
                  <a:srgbClr val="1A73E8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15</c:v>
                </c:pt>
                <c:pt idx="3">
                  <c:v>14</c:v>
                </c:pt>
                <c:pt idx="4">
                  <c:v>19</c:v>
                </c:pt>
                <c:pt idx="5">
                  <c:v>23</c:v>
                </c:pt>
                <c:pt idx="6">
                  <c:v>22</c:v>
                </c:pt>
                <c:pt idx="7">
                  <c:v>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2E2"/>
            </a:solidFill>
          </a:ln>
        </c:spPr>
        <c:txPr>
          <a:bodyPr/>
          <a:lstStyle/>
          <a:p>
            <a:pPr>
              <a:defRPr sz="900">
                <a:solidFill>
                  <a:srgbClr val="6B6B6B"/>
                </a:solidFill>
                <a:latin typeface="Raleway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2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B6B"/>
                </a:solidFill>
                <a:latin typeface="Raleway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B6B6B"/>
              </a:solidFill>
              <a:latin typeface="Ralew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Ralew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B8A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58</c:v>
                </c:pt>
                <c:pt idx="2">
                  <c:v>51</c:v>
                </c:pt>
                <c:pt idx="3">
                  <c:v>67</c:v>
                </c:pt>
                <c:pt idx="4">
                  <c:v>39</c:v>
                </c:pt>
              </c:numCache>
            </c:numRef>
          </c:val>
        </c:ser>
        <c:gapWidth val="8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2E2"/>
            </a:solidFill>
          </a:ln>
        </c:spPr>
        <c:txPr>
          <a:bodyPr/>
          <a:lstStyle/>
          <a:p>
            <a:pPr>
              <a:defRPr sz="900">
                <a:solidFill>
                  <a:srgbClr val="6B6B6B"/>
                </a:solidFill>
                <a:latin typeface="Raleway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2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B6B"/>
                </a:solidFill>
                <a:latin typeface="Raleway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900">
          <a:latin typeface="Ralew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B8A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55</c:v>
                </c:pt>
                <c:pt idx="2">
                  <c:v>48</c:v>
                </c:pt>
                <c:pt idx="3">
                  <c:v>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year</c:v>
                </c:pt>
              </c:strCache>
            </c:strRef>
          </c:tx>
          <c:spPr>
            <a:solidFill>
              <a:srgbClr val="78909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49</c:v>
                </c:pt>
                <c:pt idx="2">
                  <c:v>51</c:v>
                </c:pt>
                <c:pt idx="3">
                  <c:v>54</c:v>
                </c:pt>
              </c:numCache>
            </c:numRef>
          </c:val>
        </c:ser>
        <c:gapWidth val="8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2E2"/>
            </a:solidFill>
          </a:ln>
        </c:spPr>
        <c:txPr>
          <a:bodyPr/>
          <a:lstStyle/>
          <a:p>
            <a:pPr>
              <a:defRPr sz="900">
                <a:solidFill>
                  <a:srgbClr val="6B6B6B"/>
                </a:solidFill>
                <a:latin typeface="Raleway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2E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B6B"/>
                </a:solidFill>
                <a:latin typeface="Raleway"/>
              </a:defRPr>
            </a:pPr>
          </a:p>
        </c:txPr>
        <c:crossAx val="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6B6B6B"/>
              </a:solidFill>
              <a:latin typeface="Raleway"/>
            </a:defRPr>
          </a:pPr>
        </a:p>
      </c:txPr>
    </c:legend>
    <c:dispBlanksAs val="gap"/>
  </c:chart>
  <c:txPr>
    <a:bodyPr/>
    <a:lstStyle/>
    <a:p>
      <a:pPr>
        <a:defRPr sz="900">
          <a:latin typeface="Ralew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00B8A0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A73E8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89098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D9CC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27</c:v>
                </c:pt>
                <c:pt idx="2">
                  <c:v>19</c:v>
                </c:pt>
                <c:pt idx="3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900">
              <a:solidFill>
                <a:srgbClr val="6B6B6B"/>
              </a:solidFill>
              <a:latin typeface="Ralew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Raleway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95805"/>
            <a:ext cx="5897880" cy="285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Raleway"/>
              </a:rPr>
              <a:t>CORPORATE · CONSULTING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381098"/>
            <a:ext cx="457200" cy="38405"/>
          </a:xfrm>
          <a:prstGeom prst="rect">
            <a:avLst/>
          </a:prstGeom>
          <a:solidFill>
            <a:srgbClr val="78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667305"/>
            <a:ext cx="5897880" cy="1904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0">
                <a:solidFill>
                  <a:srgbClr val="111111"/>
                </a:solidFill>
                <a:latin typeface="Inter"/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62195"/>
            <a:ext cx="5897880" cy="761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6B6B6B"/>
                </a:solidFill>
                <a:latin typeface="Lato"/>
              </a:rPr>
              <a:t>A short one-line descriptor — replace with your own.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2542032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040880" y="1554480"/>
            <a:ext cx="4465015" cy="4617720"/>
          </a:xfrm>
          <a:prstGeom prst="rect">
            <a:avLst/>
          </a:prstGeom>
          <a:solidFill>
            <a:srgbClr val="ECF1F4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9A9A"/>
                </a:solidFill>
                <a:latin typeface="Raleway"/>
              </a:rPr>
              <a:t>YOUR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9164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>
                <a:solidFill>
                  <a:srgbClr val="00B8A0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017520"/>
            <a:ext cx="6667805" cy="285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>
                <a:solidFill>
                  <a:srgbClr val="00B8A0"/>
                </a:solidFill>
                <a:latin typeface="Raleway"/>
              </a:rPr>
              <a:t>SECTION 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3383280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3474720"/>
            <a:ext cx="457200" cy="38405"/>
          </a:xfrm>
          <a:prstGeom prst="rect">
            <a:avLst/>
          </a:prstGeom>
          <a:solidFill>
            <a:srgbClr val="78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9525305" cy="20958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0" b="0">
                <a:solidFill>
                  <a:srgbClr val="111111"/>
                </a:solidFill>
                <a:latin typeface="Inter"/>
              </a:rPr>
              <a:t>Section title</a:t>
            </a:r>
          </a:p>
          <a:p>
            <a:pPr algn="l"/>
            <a:r>
              <a:rPr sz="4500" b="0">
                <a:solidFill>
                  <a:srgbClr val="111111"/>
                </a:solidFill>
                <a:latin typeface="Inter"/>
              </a:rPr>
              <a:t>goes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463040"/>
            <a:ext cx="9525305" cy="3810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B6B6B"/>
                </a:solidFill>
                <a:latin typeface="Lato"/>
              </a:rPr>
              <a:t>This is a single-column content slide. Use it for an overview, an objective, or any narrative passage. Body copy is set in Lato at a comfortable reading size with generous leading and a muted ink tone, left-aligned on the 72px margin grid. Keep paragraphs short and lead with the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Two-column content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508760"/>
            <a:ext cx="5143500" cy="285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Raleway"/>
              </a:rPr>
              <a:t>LEFT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435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6B6B6B"/>
                </a:solidFill>
                <a:latin typeface="Lato"/>
              </a:rPr>
              <a:t>The left body holds the primary argument. Two balanced columns let you contrast ideas, pair a claim with evidence, or run problem against solution. Lato body, muted 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62395" y="1508760"/>
            <a:ext cx="5143500" cy="285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Raleway"/>
              </a:rPr>
              <a:t>RIGHT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2395" y="1828800"/>
            <a:ext cx="51435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6B6B6B"/>
                </a:solidFill>
                <a:latin typeface="Lato"/>
              </a:rPr>
              <a:t>The right body carries the counterpoint or the supporting detail. Both columns share the same placeholder structure so a fill routine just drops text into left and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66678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Deliverables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857500"/>
            <a:ext cx="30348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789098"/>
                </a:solidFill>
                <a:latin typeface="Raleway"/>
              </a:rPr>
              <a:t>CONSECTETUR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43707"/>
            <a:ext cx="3034894" cy="9528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11111"/>
                </a:solidFill>
                <a:latin typeface="Inter"/>
              </a:rPr>
              <a:t>45K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90695"/>
            <a:ext cx="3034894" cy="761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1A73E8"/>
                </a:solidFill>
                <a:latin typeface="Lato"/>
              </a:rPr>
              <a:t>Projects delivered across the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3498" y="2857500"/>
            <a:ext cx="30348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789098"/>
                </a:solidFill>
                <a:latin typeface="Raleway"/>
              </a:rPr>
              <a:t>ADIPISCING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498" y="3143707"/>
            <a:ext cx="3034894" cy="9528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11111"/>
                </a:solidFill>
                <a:latin typeface="Inter"/>
              </a:rPr>
              <a:t>690K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498" y="4190695"/>
            <a:ext cx="3034894" cy="761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1A73E8"/>
                </a:solidFill>
                <a:latin typeface="Lato"/>
              </a:rPr>
              <a:t>Hours of senior expertise applied.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806" y="2857500"/>
            <a:ext cx="30348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789098"/>
                </a:solidFill>
                <a:latin typeface="Raleway"/>
              </a:rPr>
              <a:t>SED EIUSMOD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806" y="3143707"/>
            <a:ext cx="3034894" cy="9528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11111"/>
                </a:solidFill>
                <a:latin typeface="Inter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806" y="4190695"/>
            <a:ext cx="3034894" cy="761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25" b="0">
                <a:solidFill>
                  <a:srgbClr val="1A73E8"/>
                </a:solidFill>
                <a:latin typeface="Lato"/>
              </a:rPr>
              <a:t>Client satisfaction across engagements.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2194" y="2857500"/>
            <a:ext cx="0" cy="2095805"/>
          </a:xfrm>
          <a:prstGeom prst="bentConnector3">
            <a:avLst/>
          </a:prstGeom>
          <a:ln w="19050">
            <a:solidFill>
              <a:srgbClr val="C9D6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99502" y="2857500"/>
            <a:ext cx="0" cy="2095805"/>
          </a:xfrm>
          <a:prstGeom prst="bentConnector3">
            <a:avLst/>
          </a:prstGeom>
          <a:ln w="19050">
            <a:solidFill>
              <a:srgbClr val="C9D6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Photo + caption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85800" y="1554480"/>
            <a:ext cx="10820095" cy="3619195"/>
          </a:xfrm>
          <a:prstGeom prst="rect">
            <a:avLst/>
          </a:prstGeom>
          <a:solidFill>
            <a:srgbClr val="EC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172968"/>
            <a:ext cx="10820095" cy="3813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75" b="1">
                <a:solidFill>
                  <a:srgbClr val="9A9A9A"/>
                </a:solidFill>
                <a:latin typeface="Raleway"/>
              </a:rPr>
              <a:t>YOUR IMAGE — replace with a CC0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03520"/>
            <a:ext cx="10820095" cy="285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Lato"/>
              </a:rPr>
              <a:t>Caption: a short descriptor for the image above.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Photo grid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85800" y="1554480"/>
            <a:ext cx="5333695" cy="1591056"/>
          </a:xfrm>
          <a:prstGeom prst="rect">
            <a:avLst/>
          </a:prstGeom>
          <a:solidFill>
            <a:srgbClr val="EC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2859329"/>
            <a:ext cx="5105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6B6B6B"/>
                </a:solidFill>
                <a:latin typeface="Lato"/>
              </a:rPr>
              <a:t>Caption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554480"/>
            <a:ext cx="5333695" cy="1591056"/>
          </a:xfrm>
          <a:prstGeom prst="rect">
            <a:avLst/>
          </a:prstGeom>
          <a:solidFill>
            <a:srgbClr val="EC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0" y="2859329"/>
            <a:ext cx="5105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6B6B6B"/>
                </a:solidFill>
                <a:latin typeface="Lato"/>
              </a:rPr>
              <a:t>Caption two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97326"/>
            <a:ext cx="5333695" cy="1591056"/>
          </a:xfrm>
          <a:prstGeom prst="rect">
            <a:avLst/>
          </a:prstGeom>
          <a:solidFill>
            <a:srgbClr val="EC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4602175"/>
            <a:ext cx="5105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6B6B6B"/>
                </a:solidFill>
                <a:latin typeface="Lato"/>
              </a:rPr>
              <a:t>Caption three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297326"/>
            <a:ext cx="5333695" cy="1591056"/>
          </a:xfrm>
          <a:prstGeom prst="rect">
            <a:avLst/>
          </a:prstGeom>
          <a:solidFill>
            <a:srgbClr val="EC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6500" y="4602175"/>
            <a:ext cx="5105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6B6B6B"/>
                </a:solidFill>
                <a:latin typeface="Lato"/>
              </a:rPr>
              <a:t>Caption four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190902"/>
            <a:ext cx="457200" cy="38405"/>
          </a:xfrm>
          <a:prstGeom prst="rect">
            <a:avLst/>
          </a:prstGeom>
          <a:solidFill>
            <a:srgbClr val="78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103120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71293"/>
            <a:ext cx="10820095" cy="20958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0">
                <a:solidFill>
                  <a:srgbClr val="111111"/>
                </a:solidFill>
                <a:latin typeface="Inter"/>
              </a:rPr>
              <a:t>“A concise, high-impact statement</a:t>
            </a:r>
          </a:p>
          <a:p>
            <a:pPr algn="l">
              <a:lnSpc>
                <a:spcPct val="110000"/>
              </a:lnSpc>
            </a:pPr>
            <a:r>
              <a:rPr sz="3300" b="0">
                <a:solidFill>
                  <a:srgbClr val="111111"/>
                </a:solidFill>
                <a:latin typeface="Inter"/>
              </a:rPr>
              <a:t>that frames the whole engagement.”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857293"/>
            <a:ext cx="8572500" cy="381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75" b="0">
                <a:solidFill>
                  <a:srgbClr val="6B6B6B"/>
                </a:solidFill>
                <a:latin typeface="Lato"/>
              </a:rPr>
              <a:t>— Engagement Lead, Strategy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667305"/>
            <a:ext cx="457200" cy="38405"/>
          </a:xfrm>
          <a:prstGeom prst="rect">
            <a:avLst/>
          </a:prstGeom>
          <a:solidFill>
            <a:srgbClr val="78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578608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3047695"/>
            <a:ext cx="952530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0" b="0">
                <a:solidFill>
                  <a:srgbClr val="111111"/>
                </a:solidFill>
                <a:latin typeface="Inter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90695"/>
            <a:ext cx="8572500" cy="381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75" b="0">
                <a:solidFill>
                  <a:srgbClr val="6B6B6B"/>
                </a:solidFill>
                <a:latin typeface="Lato"/>
              </a:rPr>
              <a:t>hello@example.com  ·  +00 0000 0000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Column chart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91640"/>
          <a:ext cx="85039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464040" y="23774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789098"/>
                </a:solidFill>
                <a:latin typeface="Raleway"/>
              </a:rPr>
              <a:t>KEY TAKEAWAY  </a:t>
            </a:r>
            <a:r>
              <a:rPr sz="1125" b="0">
                <a:solidFill>
                  <a:srgbClr val="1A73E8"/>
                </a:solidFill>
                <a:latin typeface="Lato"/>
              </a:rPr>
              <a:t>Category F leads; the trend rises left-to-right — replace with your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49377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75" b="0">
                <a:solidFill>
                  <a:srgbClr val="6B6B6B"/>
                </a:solidFill>
                <a:latin typeface="Lato"/>
              </a:rPr>
              <a:t>Single-series sample data. Edit the chart in PowerPoint to add series.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Trend over time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91640"/>
          <a:ext cx="85039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464040" y="23774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789098"/>
                </a:solidFill>
                <a:latin typeface="Raleway"/>
              </a:rPr>
              <a:t>KEY TAKEAWAY  </a:t>
            </a:r>
            <a:r>
              <a:rPr sz="1125" b="0">
                <a:solidFill>
                  <a:srgbClr val="1A73E8"/>
                </a:solidFill>
                <a:latin typeface="Lato"/>
              </a:rPr>
              <a:t>Both series trend upward over eight periods — replace with your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49377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75" b="0">
                <a:solidFill>
                  <a:srgbClr val="6B6B6B"/>
                </a:solidFill>
                <a:latin typeface="Lato"/>
              </a:rPr>
              <a:t>Teal = Series 1, blue = Series 2. Markers on every point.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Chart with insights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91640"/>
          <a:ext cx="63550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60920" y="16916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Raleway"/>
              </a:rPr>
              <a:t>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8A0"/>
                </a:solidFill>
                <a:latin typeface="Inter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3528" y="2148840"/>
            <a:ext cx="38221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Lato"/>
              </a:rPr>
              <a:t>Segment 4 is the clear outperformer this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0632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8A0"/>
                </a:solidFill>
                <a:latin typeface="Inter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3063240"/>
            <a:ext cx="38221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Lato"/>
              </a:rPr>
              <a:t>Segments 1 and 5 lag and warrant a closer look.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977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8A0"/>
                </a:solidFill>
                <a:latin typeface="Inter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3977640"/>
            <a:ext cx="38221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Lato"/>
              </a:rPr>
              <a:t>Overall spread is narrowing versus prior periods.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8920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8A0"/>
                </a:solidFill>
                <a:latin typeface="Inter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8" y="4892040"/>
            <a:ext cx="38221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Lato"/>
              </a:rPr>
              <a:t>Replace these notes with your own commentary.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Two-chart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783080"/>
          <a:ext cx="5394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5321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789098"/>
                </a:solidFill>
                <a:latin typeface="Raleway"/>
              </a:rPr>
              <a:t>FIG 1 — CLUSTERED COLUMN (YEAR ON YEAR)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46520" y="1783080"/>
          <a:ext cx="493776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55080" y="5532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789098"/>
                </a:solidFill>
                <a:latin typeface="Raleway"/>
              </a:rPr>
              <a:t>FIG 2 — SHARE OF MIX (DOUGHNUT)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KPI dashboard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8572" y="233172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ECF1F4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9740" y="2532888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789098"/>
                </a:solidFill>
                <a:latin typeface="Raleway"/>
              </a:rP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740" y="2834640"/>
            <a:ext cx="2203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Inter"/>
              </a:rPr>
              <a:t>$4.2M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740" y="4142232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0B8A0"/>
                </a:solidFill>
                <a:latin typeface="Lato"/>
              </a:rPr>
              <a:t>▲ </a:t>
            </a:r>
            <a:r>
              <a:rPr sz="1050" b="1">
                <a:solidFill>
                  <a:srgbClr val="00B8A0"/>
                </a:solidFill>
                <a:latin typeface="Lato"/>
              </a:rPr>
              <a:t>+12.4% YoY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8076" y="233172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ECF1F4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9244" y="2532888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789098"/>
                </a:solidFill>
                <a:latin typeface="Raleway"/>
              </a:rPr>
              <a:t>GROSS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9244" y="2834640"/>
            <a:ext cx="2203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Inter"/>
              </a:rPr>
              <a:t>68.5%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9244" y="4142232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0B8A0"/>
                </a:solidFill>
                <a:latin typeface="Lato"/>
              </a:rPr>
              <a:t>▲ </a:t>
            </a:r>
            <a:r>
              <a:rPr sz="1050" b="1">
                <a:solidFill>
                  <a:srgbClr val="00B8A0"/>
                </a:solidFill>
                <a:latin typeface="Lato"/>
              </a:rPr>
              <a:t>+3.1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7580" y="233172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ECF1F4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8" y="2532888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789098"/>
                </a:solidFill>
                <a:latin typeface="Raleway"/>
              </a:rPr>
              <a:t>ACTIVE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8" y="2834640"/>
            <a:ext cx="2203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Inter"/>
              </a:rPr>
              <a:t>1,240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748" y="4142232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E2574C"/>
                </a:solidFill>
                <a:latin typeface="Lato"/>
              </a:rPr>
              <a:t>▼ </a:t>
            </a:r>
            <a:r>
              <a:rPr sz="1050" b="1">
                <a:solidFill>
                  <a:srgbClr val="E2574C"/>
                </a:solidFill>
                <a:latin typeface="Lato"/>
              </a:rPr>
              <a:t>-4.0% QoQ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7084" y="233172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ECF1F4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8252" y="2532888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789098"/>
                </a:solidFill>
                <a:latin typeface="Raleway"/>
              </a:rPr>
              <a:t>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8252" y="2834640"/>
            <a:ext cx="2203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Inter"/>
              </a:rPr>
              <a:t>9.1/10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8252" y="4142232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0B8A0"/>
                </a:solidFill>
                <a:latin typeface="Lato"/>
              </a:rPr>
              <a:t>▲ </a:t>
            </a:r>
            <a:r>
              <a:rPr sz="1050" b="1">
                <a:solidFill>
                  <a:srgbClr val="00B8A0"/>
                </a:solidFill>
                <a:latin typeface="Lato"/>
              </a:rPr>
              <a:t>+0.6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B6B6B"/>
                </a:solidFill>
                <a:latin typeface="Lato"/>
              </a:rPr>
              <a:t>Sample metrics — replace the values, deltas and labels with your own KPIs. Green ▲ = improvement, red ▼ = decline.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Data table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20095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Raleway"/>
                        </a:rPr>
                        <a:t>Segment</a:t>
                      </a:r>
                    </a:p>
                  </a:txBody>
                  <a:tcPr marL="109728" marR="109728" marT="45720" marB="45720" anchor="ctr">
                    <a:solidFill>
                      <a:srgbClr val="00B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Raleway"/>
                        </a:rPr>
                        <a:t>Q1</a:t>
                      </a:r>
                    </a:p>
                  </a:txBody>
                  <a:tcPr marL="109728" marR="109728" marT="45720" marB="45720" anchor="ctr">
                    <a:solidFill>
                      <a:srgbClr val="00B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Raleway"/>
                        </a:rPr>
                        <a:t>Q2</a:t>
                      </a:r>
                    </a:p>
                  </a:txBody>
                  <a:tcPr marL="109728" marR="109728" marT="45720" marB="45720" anchor="ctr">
                    <a:solidFill>
                      <a:srgbClr val="00B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Raleway"/>
                        </a:rPr>
                        <a:t>Q3</a:t>
                      </a:r>
                    </a:p>
                  </a:txBody>
                  <a:tcPr marL="109728" marR="109728" marT="45720" marB="45720" anchor="ctr">
                    <a:solidFill>
                      <a:srgbClr val="00B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Raleway"/>
                        </a:rPr>
                        <a:t>Q4</a:t>
                      </a:r>
                    </a:p>
                  </a:txBody>
                  <a:tcPr marL="109728" marR="109728" marT="45720" marB="45720" anchor="ctr">
                    <a:solidFill>
                      <a:srgbClr val="00B8A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111111"/>
                          </a:solidFill>
                          <a:latin typeface="Lato"/>
                        </a:rPr>
                        <a:t>Segment 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1,204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1,389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1,512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1,640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111111"/>
                          </a:solidFill>
                          <a:latin typeface="Lato"/>
                        </a:rPr>
                        <a:t>Segment 2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842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910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988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1,031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111111"/>
                          </a:solidFill>
                          <a:latin typeface="Lato"/>
                        </a:rPr>
                        <a:t>Segment 3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651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640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712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769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111111"/>
                          </a:solidFill>
                          <a:latin typeface="Lato"/>
                        </a:rPr>
                        <a:t>Segment 4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318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402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455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6B6B6B"/>
                          </a:solidFill>
                          <a:latin typeface="Lato"/>
                        </a:rPr>
                        <a:t>528</a:t>
                      </a:r>
                    </a:p>
                  </a:txBody>
                  <a:tcPr marL="109728" marR="109728" marT="45720" marB="45720" anchor="ctr">
                    <a:solidFill>
                      <a:srgbClr val="ECF1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212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B6B"/>
                </a:solidFill>
                <a:latin typeface="Lato"/>
              </a:rPr>
              <a:t>Native, editable table with a themed header row and light zebra rows — replace with your own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095"/>
            <a:ext cx="952530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111111"/>
                </a:solidFill>
                <a:latin typeface="Inter"/>
              </a:rPr>
              <a:t>2×2 matrix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225296"/>
            <a:ext cx="12191695" cy="0"/>
          </a:xfrm>
          <a:prstGeom prst="bentConnector3">
            <a:avLst/>
          </a:prstGeom>
          <a:ln w="15875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25735" y="384048"/>
            <a:ext cx="1280160" cy="457200"/>
          </a:xfrm>
          <a:prstGeom prst="rect">
            <a:avLst/>
          </a:prstGeom>
          <a:noFill/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A9A9A"/>
                </a:solidFill>
                <a:latin typeface="Raleway"/>
              </a:rPr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2438248" y="1874520"/>
            <a:ext cx="3657600" cy="1737360"/>
          </a:xfrm>
          <a:prstGeom prst="rect">
            <a:avLst/>
          </a:prstGeom>
          <a:solidFill>
            <a:srgbClr val="ECF1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8" y="1874520"/>
            <a:ext cx="3657600" cy="173736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38248" y="3611880"/>
            <a:ext cx="3657600" cy="173736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8" y="3611880"/>
            <a:ext cx="3657600" cy="1737360"/>
          </a:xfrm>
          <a:prstGeom prst="rect">
            <a:avLst/>
          </a:prstGeom>
          <a:solidFill>
            <a:srgbClr val="ECF1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095848" y="1874520"/>
            <a:ext cx="0" cy="3474720"/>
          </a:xfrm>
          <a:prstGeom prst="bentConnector3">
            <a:avLst/>
          </a:prstGeom>
          <a:ln w="19050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38248" y="3611880"/>
            <a:ext cx="7315200" cy="0"/>
          </a:xfrm>
          <a:prstGeom prst="bentConnector3">
            <a:avLst/>
          </a:prstGeom>
          <a:ln w="19050">
            <a:solidFill>
              <a:srgbClr val="7890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66848" y="207568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"/>
              </a:rPr>
              <a:t>Quadrant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8" y="207568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"/>
              </a:rPr>
              <a:t>Quadrant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6848" y="48920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"/>
              </a:rPr>
              <a:t>Quadrant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8" y="48920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"/>
              </a:rPr>
              <a:t>Quadrant 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8248" y="15636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Raleway"/>
              </a:rPr>
              <a:t>Y AXIS —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8248" y="5422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Raleway"/>
              </a:rPr>
              <a:t>Y AXIS —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3808" y="349300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Raleway"/>
              </a:rPr>
              <a:t>X AXIS — 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4888" y="349300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Raleway"/>
              </a:rPr>
              <a:t>X AXIS — HIGH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